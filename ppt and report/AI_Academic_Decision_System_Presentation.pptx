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20" Type="http://schemas.microsoft.com/office/2016/11/relationships/changesInfo" Target="changesInfos/changesInfo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lakanti Abhishek" userId="35d763e2a7e01637" providerId="LiveId" clId="{32D135DA-B1CB-3F29-8939-39A42E115D11}"/>
    <pc:docChg chg="custSel modSld">
      <pc:chgData name="Edulakanti Abhishek" userId="35d763e2a7e01637" providerId="LiveId" clId="{32D135DA-B1CB-3F29-8939-39A42E115D11}" dt="2026-10-04T06:16:28.749" v="0" actId="21"/>
      <pc:docMkLst>
        <pc:docMk/>
      </pc:docMkLst>
      <pc:sldChg chg="delSp mod">
        <pc:chgData name="Edulakanti Abhishek" userId="35d763e2a7e01637" providerId="LiveId" clId="{32D135DA-B1CB-3F29-8939-39A42E115D11}" dt="2026-10-04T06:16:28.749" v="0" actId="21"/>
        <pc:sldMkLst>
          <pc:docMk/>
          <pc:sldMk cId="0" sldId="267"/>
        </pc:sldMkLst>
        <pc:picChg chg="del">
          <ac:chgData name="Edulakanti Abhishek" userId="35d763e2a7e01637" providerId="LiveId" clId="{32D135DA-B1CB-3F29-8939-39A42E115D11}" dt="2026-10-04T06:16:28.749" v="0" actId="21"/>
          <ac:picMkLst>
            <pc:docMk/>
            <pc:sldMk cId="0" sldId="267"/>
            <ac:picMk id="1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0" y="914400"/>
            <a:ext cx="109728" cy="475488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D4AF37"/>
                </a:solidFill>
              </a:defRPr>
            </a:pPr>
            <a:r>
              <a:t>THE ICFAI FOUNDATION FOR HIGHER EDUCATION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(Deemed-to-be-University under Section 3 of the UGC Act 1956) · Faculty of Science &amp;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601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AI-Based Autonomous Academic</a:t>
            </a:r>
            <a:br/>
            <a:r>
              <a:t>Decision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D166"/>
                </a:solidFill>
              </a:defRPr>
            </a:pPr>
            <a:r>
              <a:t>Self-Learning ERP Intelligence &amp; Multi-Dataset Academic Governance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Domain: Artificial Intelligence + Machine Learning + Educational Data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97680"/>
            <a:ext cx="9601200" cy="1554480"/>
          </a:xfrm>
          <a:prstGeom prst="roundRect">
            <a:avLst/>
          </a:prstGeom>
          <a:solidFill>
            <a:srgbClr val="0D2F5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4389120"/>
            <a:ext cx="92354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4AF37"/>
                </a:solidFill>
              </a:defRPr>
            </a:pPr>
            <a:r>
              <a:t>Faculty Guides: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Mrs. Madhusmita Majhi (Assistant Professor, Academic Mentorship)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Dr. D. Krishna Madhuri (Associate Professor, AI &amp; Machine Learning Research)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Student Cohort: Year 1 Semester 1 (Batch 2026–2030) | Sections A through J (500 Students)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 &amp; 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2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⚠️ The Problem in Higher Education ERP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• Manual Academic Decisions: 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Faculty and deans manually review hundreds of student records, delaying critical interventions until after semester exams.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• Lack of Early Warning: 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Students who fall behind in internal mid-terms or continuous quizzes are identified too late to prevent course backlogs.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• Fragmented Data Silos: 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Attendance, lab performance, LMS engagement, and exam marks exist in silos without holistic synthesis.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• Unrealistic Workflow Models: 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Commercial tools fail to enforce statutory prerequisites like strict semester registration and 50-student section caps.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6A34A"/>
                </a:solidFill>
              </a:defRPr>
            </a:pPr>
            <a:r>
              <a:t>🎯 Core Project Objectives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• Autonomous Academic Decision Support: 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Deploy self-learning AI models that predict academic performance (Pass/Distinction/Fail) and academic risk tiers.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• Real-World Institutional Workflow: 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Enforce strict semester registration: unregistered students cannot possess marks, attendance, or predictions.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• 60/40 Assessment Architecture: 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Standardize continuous evaluation: 30 Mid + 10 Assignment + 10 Quiz + 10 Viva = 60 Internal; 40 External.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• Targeted Interventions &amp; Recommendations: 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Generate personalized, course-specific recovery plans and 75% UGC statutory attendance shortage warnings.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• Multi-Role Governance Dashboards: 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   Deliver specialized workspaces for Students (IFHE aesthetic), Faculty (grading &amp; roster), and Administrators.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SYSTEM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End-to-End System Architecture &amp;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3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🏛️ Multi-Tier Architecture Pipeline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▶ Tier 1: Institutional ERP Database (SQLite)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Stores 500 Year 1 students, 10 sections (A–J), 8 curriculum courses (20 credits), 630 weekly timetable slots, and 4,000 assessments.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▶ Tier 2: Strict Registration Gatekeeper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Validates that a student has completed formal semester registration before permitting faculty marks entry or generating AI predictions.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▶ Tier 3: Preprocessing &amp; Multi-Dataset Synthesis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Integrates Kaggle, UCI, OULAD, and ERP data with automated imputation, normalization, and feature extraction.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▶ Tier 4: Dual Random Forest Ensembles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Executes high-accuracy inference for Performance classification (97.4%) and Academic Risk classification (99.0%).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▶ Tier 5: Autonomous Decision Engine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Translates model output into actionable course-level remediation, attendance warnings, and distinction roadmaps.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71600"/>
            <a:ext cx="53949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50876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⚙️ Process Flowchart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4663440" cy="6217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44805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91E3A"/>
                </a:solidFill>
              </a:defRPr>
            </a:pPr>
            <a:r>
              <a:t>• 1. ERP Database: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500 Students · Sections A–J (50/sec) · 8 Courses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06624"/>
            <a:ext cx="4663440" cy="62179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752344"/>
            <a:ext cx="44805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91E3A"/>
                </a:solidFill>
              </a:defRPr>
            </a:pPr>
            <a:r>
              <a:t>• 2. Registration Guard: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Strict Validation: Unregistered = Blocked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01568"/>
            <a:ext cx="4663440" cy="621792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447287"/>
            <a:ext cx="44805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91E3A"/>
                </a:solidFill>
              </a:defRPr>
            </a:pPr>
            <a:r>
              <a:t>• 3. Feature Synthesis: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Kaggle + UCI + OULAD + ERP Assessments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096511"/>
            <a:ext cx="4663440" cy="62179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142231"/>
            <a:ext cx="44805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91E3A"/>
                </a:solidFill>
              </a:defRPr>
            </a:pPr>
            <a:r>
              <a:t>• 4. ML Ensembles: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Random Forest: 97.4% Perf, 99.0%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91455"/>
            <a:ext cx="4663440" cy="62179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837175"/>
            <a:ext cx="44805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91E3A"/>
                </a:solidFill>
              </a:defRPr>
            </a:pPr>
            <a:r>
              <a:t>• 5. Decision Engine: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Course Interventions &amp; 75% Shortage Alerts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5486399"/>
            <a:ext cx="4663440" cy="621792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5532119"/>
            <a:ext cx="44805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91E3A"/>
                </a:solidFill>
              </a:defRPr>
            </a:pPr>
            <a:r>
              <a:t>• 6. Dashboards: 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Role-Based: Student | Faculty | 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DATASET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Multi-Dataset Benchmarking &amp;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4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📚 Integration Across 4 Benchmark Datasets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Kaggle Student Performance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Models parental education influence, independent study hours, and continuous formative quiz persistence patterns.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UCI Student Performance (Cortez &amp; Silva)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Maps G1 (Mid-Term /30), G2 (Continuous Internal /60), past failure history, and student absenteeism to academic risk.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Open University Learning Analytics (OULAD)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Integrates VLE clickstream interactions, TMA (Tutor-Marked) and CMA (Computer-Marked) assessment submission timeliness.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Synthetic Institutional ERP Dataset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4,000 real-world course assessments across Sections A–J, 60/40 mark splits, 2,400 attendance sessions, and 40,000 attendance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ulti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937760" cy="3185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ACADEMIC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Academic Realignment: 10 Sections (A–J, 50 Capacity)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5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🏛️ Realistic Institutional Realignment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✔ Balanced Cohort Distribution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Realigned the previous 3-section unworkable structure into exactly 10 Sections (Sections A through J) capped at 50 students each (total 500 students).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✔ Uniform Year 1 Semester 1 Cohort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All 500 students belong to Year 1, Semester 1 across CSE, AIML, and AIDS, establishing realistic first-year academic dynamics.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✔ Accredited 20-Credit Curriculum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Students are enrolled across 8 accredited courses (5 Core Theory totaling 15 credits, 3 Practical Labs totaling 5 credits).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✔ Timetable &amp; Section Roster Integrity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630 weekly timetable slots (Monday to Saturday, P1 to P7). Each course section maps to the exact 50 registered students for grading and attendance.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section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937760" cy="31856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EVALUATION SCHEME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Continuous Internal Evaluation (CIE) 60/40 Scheme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6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⚖️ 100-Mark Course Evaluation Framework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60 Internal Marks (CIE)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Divided into 4 continuous evaluation pillars:</a:t>
            </a:r>
            <a:br/>
            <a:r>
              <a:t>• Mid-Term Examination: 30 Marks</a:t>
            </a:r>
            <a:br/>
            <a:r>
              <a:t>• Continuous Assignments: 10 Marks</a:t>
            </a:r>
            <a:br/>
            <a:r>
              <a:t>• Formative Online Quizzes: 10 Marks</a:t>
            </a:r>
            <a:br/>
            <a:r>
              <a:t>• Practical Viva Voce / Lab Evaluation: 10 Marks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40 External Marks (SEE)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Summative End-Semester University Examination conducted by the institutional examination controller.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Faculty-Only Permissions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Marks and session attendance can only be entered by the faculty assigned to that specific timetable slot and course section.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UGC Letter Grading System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O (≥90), A+ (80–89), A (70–79), B+ (60–69), B (50–59), C (40–49), F (&lt;40 Course Backlog).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i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937760" cy="33449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INSTITUTIONAL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Strict ERP Semester Registration Gatekeeper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7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🔒 Institutional Rule Enforcement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• Strict Lockdown Workflow: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Under real-world institutional policy, students must formally register for their active semester before being evaluated. Unregistered students have zero marks, zero attendance records, and zero predictions.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• No Direct Posting: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Eliminates the flaw of premature grading: faculty cannot post marks or submit session attendance for unregistered students.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• Statutory Warning Banner: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When an unregistered student logs in, an Academic Hold alert is displayed, and gradebook, timetable, and predictions are completely hidden.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• Audit Receipt Generation: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Upon completing registration, an official verified registration receipt with timestamp and enrolled courses is issued.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📋 Registration Flow Comparison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▶ Unregistered Student State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❌ Internal Marks (CIE): Withheld</a:t>
            </a:r>
            <a:br/>
            <a:r>
              <a:t>❌ External Marks (SEE): Withheld</a:t>
            </a:r>
            <a:br/>
            <a:r>
              <a:t>❌ Session Attendance: Inaccessible</a:t>
            </a:r>
            <a:br/>
            <a:r>
              <a:t>❌ AI Predictions: Locked</a:t>
            </a:r>
            <a:br/>
            <a:r>
              <a:t>👉 Display: Semester Registration Wizard with seat cap (50) and course list</a:t>
            </a:r>
          </a:p>
          <a:p>
            <a:pPr>
              <a:defRPr sz="1150" b="1">
                <a:solidFill>
                  <a:srgbClr val="091E3A"/>
                </a:solidFill>
              </a:defRPr>
            </a:pPr>
            <a:r>
              <a:t>▶ Registered Student State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✅ 8 Enrolled Courses (20 Credits) Unlocked</a:t>
            </a:r>
            <a:br/>
            <a:r>
              <a:t>✅ 60/40 Course Assessment Gradebook Active</a:t>
            </a:r>
            <a:br/>
            <a:r>
              <a:t>✅ Weekly Class Timetable (Mon–Sat) Visible</a:t>
            </a:r>
            <a:br/>
            <a:r>
              <a:t>✅ Live Attendance Ledger with 75% Tracker</a:t>
            </a:r>
            <a:br/>
            <a:r>
              <a:t>✅ Real-Time AI Performance &amp; Risk Radar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DATA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 Preprocessing &amp; 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8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🧹 Data Cleaning &amp; Preprocessing (Phase 2)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Missing Value Imputation: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Continuous internal components (Mid, Assignment, Quiz, Viva) and attendance percentages are imputed using section medians.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Foreign Key &amp; Integrity Verification: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Enforces relational constraints across students, semester registrations, courses, and faculty timetable mappings.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Categorical Encoding: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Transforms course categories (Core/Lab/Humanity) and section identifiers into machine-readable numeric formats.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Stratified 80/20 Holdout Split: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Partitions 4,000 course assessments into 3,200 training records and 800 test records, preserving class balances across sections.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🔬 Synthesized Behavioral Features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Formative Mastery Index (FMI):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Combines continuous assignment timeliness and quiz performance to measure consistent formative effort.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Examination Retention Index (ERI):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Measures mid-term exam performance (/30) as a predictor of summative end-semester exam success.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Practical / Viva Fluency (PVF):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Evaluates hands-on lab and viva voce demonstration (/10) for experiential learning quality.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Attendance Regularity Score (ARS):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Tracks course attendance percentage against the UGC 75% statutory minimum requirement.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VLE Engagement Weight (VEW): 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Synthesizes LMS clickstream frequency and deadline submission margins derived from OULAD benchmarks.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MACHINE LEARNING (PHASE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Machine Learning Models &amp; Algorithm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9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🤖 Dual Ensemble Model Architecture</a:t>
            </a:r>
          </a:p>
          <a:p>
            <a:pPr>
              <a:defRPr sz="1150" b="1">
                <a:solidFill>
                  <a:srgbClr val="133E87"/>
                </a:solidFill>
              </a:defRPr>
            </a:pPr>
            <a:r>
              <a:t>▶ Model 1: Student Performance Prediction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Predicts the final academic achievement category:</a:t>
            </a:r>
            <a:br/>
            <a:r>
              <a:t>• Distinction (CGPA ≥ 8.0, overall ≥ 75%)</a:t>
            </a:r>
            <a:br/>
            <a:r>
              <a:t>• Pass (Cleared all courses, overall ≥ 40%)</a:t>
            </a:r>
            <a:br/>
            <a:r>
              <a:t>• Fail (Course backlog, overall &lt; 40%)</a:t>
            </a:r>
            <a:br/>
            <a:r>
              <a:t>Algorithm: Random Forest Classifier (100 estimators)</a:t>
            </a:r>
          </a:p>
          <a:p>
            <a:pPr>
              <a:defRPr sz="1150" b="1">
                <a:solidFill>
                  <a:srgbClr val="133E87"/>
                </a:solidFill>
              </a:defRPr>
            </a:pPr>
            <a:r>
              <a:t>▶ Model 2: At-Risk Student Detection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Identifies students requiring immediate academic intervention:</a:t>
            </a:r>
            <a:br/>
            <a:r>
              <a:t>• High Risk (Attendance &lt; 75% or internal &lt; 24/60)</a:t>
            </a:r>
            <a:br/>
            <a:r>
              <a:t>• Medium Risk (Marginal performance 40–59%)</a:t>
            </a:r>
            <a:br/>
            <a:r>
              <a:t>• Low Risk (Healthy trajectory ≥ 60%)</a:t>
            </a:r>
            <a:br/>
            <a:r>
              <a:t>Algorithm: Random Forest Classifier &amp; Logistic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📊 Algorithm Benchmark Comparison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• Random Forest Ensemble (Selected):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Holdout Acc: 97.4% (Perf), 99.0% (Risk)</a:t>
            </a:r>
            <a:br/>
            <a:r>
              <a:t>Handles non-linear feature interactions, robust to outliers, zero overfitting via bagging.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• Decision Tree Classifier (Baseline):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Holdout Acc: 89.2% (Perf), 91.5% (Risk)</a:t>
            </a:r>
            <a:br/>
            <a:r>
              <a:t>Highly interpretable rules but prone to high variance on continuous assessment edge cases.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• Logistic Regression (Linear Baseline):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Holdout Acc: 84.1% (Perf), 88.0% (Risk)</a:t>
            </a:r>
            <a:br/>
            <a:r>
              <a:t>Effective for binary risk classification but underperforms on multi-class distinction boundaries.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EVALUATION &amp; TESTING (PHASE 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 Evaluation &amp; Feature Importance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10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ode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937760" cy="31856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54480"/>
            <a:ext cx="4937760" cy="31856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DECISION ENGINE (PHASE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Autonomous Decision Engine &amp; Targeted Interventions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11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🧠 Autonomous Intervention Triggers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🚨 High Risk Alert (Attendance &lt; 75% | CIE &lt; 24)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Immediately flags the student, issues automated email/SMS alerts to faculty advisors, and schedules mandatory counseling.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🚨 Statutory Attendance Shortage Warning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Calculates the exact number of consecutive upcoming lectures the student must attend without absence to regain exam eligibility.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🚨 Mid-Term Retention Support (&lt; 15/30)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Automatically assigns departmental remedial tutorials and question banks covering high-weightage syllabus units.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🚨 Practical / Viva Voce Enhancement (&lt; 6/10)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Triggers additional laboratory simulation practice and peer viva prep sessions.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🌟 Distinction Trajectory &amp; High Achiever Engine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✅ Low Risk &amp; Distinction Trajectory (Score ≥ 75)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Identifies high-performing students consistently maintaining ≥85% attendance and scoring above 45/60 in CIE.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✅ Honors &amp; Research Incubation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Recommends students for undergraduate research assistantships, honors minors, and competitive hackathon teams.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✅ Peer Mentorship Program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Pairs top-tier distinction students as peer tutors for students in remedial tutorials, fostering collaborative learning.</a:t>
            </a:r>
          </a:p>
          <a:p>
            <a:pPr>
              <a:defRPr sz="1100" b="1">
                <a:solidFill>
                  <a:srgbClr val="091E3A"/>
                </a:solidFill>
              </a:defRPr>
            </a:pPr>
            <a:r>
              <a:t>✅ Multi-Channel Notification Dispatch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Sends automated commendations and academic advisory reports via local DB notifications, SMTP email, and Twilio SMS.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PORTAL DESIGN (PHASE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Student Academic Portal (ICFAI IFHE Aesthetic)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12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🏛️ Faithful Reproduction of University ERP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Institutional Header Banner: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Deep navy blue gradient with university crest, student initials avatar, roll number (26STU0001), program, and active registration badge.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7 Institutional Navigation Tabs: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1. 🏛️ Portal Overview &amp; Student Profile</a:t>
            </a:r>
            <a:br/>
            <a:r>
              <a:t>2. 📚 Academic Curriculum &amp; Course Structure</a:t>
            </a:r>
            <a:br/>
            <a:r>
              <a:t>3. 📊 CIE &amp; External Gradebook (60/40 Scheme)</a:t>
            </a:r>
            <a:br/>
            <a:r>
              <a:t>4. 📅 Timetable &amp; Attendance System</a:t>
            </a:r>
            <a:br/>
            <a:r>
              <a:t>5. 🧠 AI Academic Decision Engine</a:t>
            </a:r>
            <a:br/>
            <a:r>
              <a:t>6. 🎯 Targeted Recommendations &amp; Interventions</a:t>
            </a:r>
            <a:br/>
            <a:r>
              <a:t>7. 🔔 University Notifications &amp; Notices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Statutory Attendance Warning Calculator: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Automatically highlights courses below 75% attendance with recovery targets to prevent examination debarment.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Course Deep-Dive Visualizers: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Component contribution bars for Mid (/30), Assignment (/10), Quiz (/10), Viva (/10), and External (/40).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54864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4748B"/>
                </a:solidFill>
              </a:defRPr>
            </a:pPr>
            <a:r>
              <a:t>Reference: IFHE Student ERP Portal Interface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GOVERNANCE PORTALS (PHASE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Faculty &amp; Administrator Governance Workspaces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13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👨‍🏫 Faculty Evaluation Workspace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Assigned Course Timetable Slots: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Faculty can only access courses and sections explicitly assigned to them in the timetable.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CIE 60/40 Marks Entry: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Direct entry for Mid (/30), Assignment (/10), Quiz (/10), Viva (/10), and External (/40) for registered students.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50-Student Session Attendance Roster: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Daily attendance marking with full section roster (50 students), locked upon submission to maintain audit integrity.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Early Warning At-Risk Student Filter: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Flags students with attendance &lt; 75% or internal score &lt; 24/60 with automated bulk notice dispatch.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E3A"/>
                </a:solidFill>
              </a:defRPr>
            </a:pPr>
            <a:r>
              <a:t>🛡️ Administrator Intelligence Center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Multi-Dataset ML Training Console: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One-click retraining of Random Forest ensembles directly from active ERP records, updating predictions across all 500 students.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Live Model Evaluation &amp; Importances: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Displays holdout accuracies (97.4% and 99.0%), feature weights, and historical training run logs.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Institutional Dataset Explorer (4,000 Records):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Interactive filterable ledger across Sections A–J, courses, and risk tiers with CSV export.</a:t>
            </a:r>
          </a:p>
          <a:p>
            <a:pPr>
              <a:defRPr sz="1100" b="1">
                <a:solidFill>
                  <a:srgbClr val="133E87"/>
                </a:solidFill>
              </a:defRPr>
            </a:pPr>
            <a:r>
              <a:t>• Curriculum &amp; Admission Approvals: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   Full control over student registrations, faculty timetable approvals, and password resets.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91E3A"/>
          </a:solidFill>
          <a:ln>
            <a:solidFill>
              <a:srgbClr val="09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D4AF37"/>
                </a:solidFill>
              </a:defRPr>
            </a:pPr>
            <a:r>
              <a:t>THE ICFAI FOUNDATION FOR HIGHER EDUCATION · SUMMARY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Phase 3 EDA Insights, Future Scope &amp;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73952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Special Project: AI-Based Autonomous Academic Decision System | Faculty Guides: Mrs. Madhusmita Majhi &amp; Dr. D. Krishna Madhuri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91E3A"/>
                </a:solidFill>
              </a:defRPr>
            </a:pPr>
            <a:r>
              <a:t>Slide 14 of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da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937760" cy="31856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91E3A"/>
                </a:solidFill>
              </a:defRPr>
            </a:pPr>
            <a:r>
              <a:t>🚀 Project Milestone Achievements &amp; Future Roadmap</a:t>
            </a:r>
          </a:p>
          <a:p>
            <a:pPr>
              <a:defRPr sz="1050" b="1">
                <a:solidFill>
                  <a:srgbClr val="133E87"/>
                </a:solidFill>
              </a:defRPr>
            </a:pPr>
            <a:r>
              <a:t>✔ Key Empirical Insight (Pearson r = +0.81)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Statistically proves the strong positive correlation between class attendance regularity and total assessment scores.</a:t>
            </a:r>
          </a:p>
          <a:p>
            <a:pPr>
              <a:defRPr sz="1050" b="1">
                <a:solidFill>
                  <a:srgbClr val="133E87"/>
                </a:solidFill>
              </a:defRPr>
            </a:pPr>
            <a:r>
              <a:t>✔ All 7 Project Phases Completed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1. Dataset Collection · 2. Preprocessing · 3. EDA · 4. AI Models · 5. Decision Engine · 6. Dashboards · 7. Testing &amp; Evaluation.</a:t>
            </a:r>
          </a:p>
          <a:p>
            <a:pPr>
              <a:defRPr sz="1050" b="1">
                <a:solidFill>
                  <a:srgbClr val="133E87"/>
                </a:solidFill>
              </a:defRPr>
            </a:pPr>
            <a:r>
              <a:t>✔ Future Enhancements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• Explainable AI (SHAP / LIME) for prediction transparency</a:t>
            </a:r>
            <a:br/>
            <a:r>
              <a:t>• Real-time LMS clickstream API connectors</a:t>
            </a:r>
            <a:br/>
            <a:r>
              <a:t>• Facial recognition biometric attendance integration</a:t>
            </a:r>
            <a:br/>
            <a:r>
              <a:t>• Generative AI counseling summaries</a:t>
            </a:r>
          </a:p>
          <a:p>
            <a:pPr>
              <a:defRPr sz="1050" b="1">
                <a:solidFill>
                  <a:srgbClr val="133E87"/>
                </a:solidFill>
              </a:defRPr>
            </a:pPr>
            <a:r>
              <a:t>✔ Academic Acknowledgments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Heartfelt gratitude to our Faculty Guides:</a:t>
            </a:r>
            <a:br/>
            <a:r>
              <a:t>• Mrs. Madhusmita Majhi (Assistant Professor)</a:t>
            </a:r>
            <a:br/>
            <a:r>
              <a:t>• Dr. D. Krishna Madhuri (Associate Professor)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Edulakanti Abhishek</cp:lastModifiedBy>
  <cp:revision>2</cp:revision>
  <dcterms:created xsi:type="dcterms:W3CDTF">2013-01-27T09:14:16Z</dcterms:created>
  <dcterms:modified xsi:type="dcterms:W3CDTF">2026-10-04T06:16:38Z</dcterms:modified>
  <cp:category/>
</cp:coreProperties>
</file>